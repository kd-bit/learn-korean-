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667f462-4385-41d7-3b0d-6552b85daa6e}">
          <p14:sldIdLst>
            <p14:sldId id="256"/>
          </p14:sldIdLst>
        </p14:section>
        <p14:section name="Requirements" id="{26950199-d71c-df34-662d-c94ed12fadcc}">
          <p14:sldIdLst>
            <p14:sldId id="257"/>
            <p14:sldId id="260"/>
          </p14:sldIdLst>
        </p14:section>
        <p14:section name="TOPIK" id="{cbd79846-2c9e-ebe5-8924-86ef702aa931}">
          <p14:sldIdLst>
            <p14:sldId id="258"/>
            <p14:sldId id="259"/>
          </p14:sldIdLst>
        </p14:section>
        <p14:section name="Where to learn" id="{579c17ba-8e98-fcd5-af1e-de975fb9721d}">
          <p14:sldIdLst>
            <p14:sldId id="261"/>
            <p14:sldId id="262"/>
          </p14:sldIdLst>
        </p14:section>
        <p14:section name="Roadmap" id="{68af95bc-ef2e-54f6-81f2-1eea1e907ae7}">
          <p14:sldIdLst>
            <p14:sldId id="263"/>
          </p14:sldIdLst>
        </p14:section>
        <p14:section name="Close" id="{bf79df0d-d115-bda9-b268-b672ee5c435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Learn Korean · 2026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opik.go.kr" TargetMode="External"/><Relationship Id="rId2" Type="http://schemas.openxmlformats.org/officeDocument/2006/relationships/hyperlink" Target="https://www.studyinkorea.go.kr" TargetMode="External"/><Relationship Id="rId3" Type="http://schemas.openxmlformats.org/officeDocument/2006/relationships/hyperlink" Target="https://www.ksif.or.kr" TargetMode="External"/><Relationship Id="rId4" Type="http://schemas.openxmlformats.org/officeDocument/2006/relationships/hyperlink" Target="https://www.eps.go.kr" TargetMode="External"/><Relationship Id="rId5" Type="http://schemas.openxmlformats.org/officeDocument/2006/relationships/hyperlink" Target="https://www.hikorea.go.kr" TargetMode="External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chemeClr val="accent3"/>
                </a:solidFill>
              </a:rPr>
              <a:t>A PRACTICAL GUIDE ·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Korean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88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무엇이 필요하고, 어디서 배울까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What you need, which test proves your level, and where to study</a:t>
            </a:r>
            <a:endParaRPr lang="en-US" sz="1800" dirty="0"/>
          </a:p>
        </p:txBody>
      </p:sp>
      <p:pic>
        <p:nvPicPr>
          <p:cNvPr id="6" name="photo event" descr="photo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4206240" cy="4495419"/>
          </a:xfrm>
          <a:prstGeom prst="rect">
            <a:avLst/>
          </a:prstGeom>
        </p:spPr>
      </p:pic>
      <p:sp>
        <p:nvSpPr>
          <p:cNvPr id="7" name="photo ring"/>
          <p:cNvSpPr/>
          <p:nvPr/>
        </p:nvSpPr>
        <p:spPr>
          <a:xfrm>
            <a:off x="5989320" y="3977640"/>
            <a:ext cx="2432304" cy="243230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photo portrai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4050792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required depends on your goal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Starting has no requirements. They appear when you want something official.</a:t>
            </a:r>
            <a:endParaRPr lang="en-US" sz="1600" dirty="0"/>
          </a:p>
        </p:txBody>
      </p:sp>
      <p:sp>
        <p:nvSpPr>
          <p:cNvPr id="4" name="goal card 1"/>
          <p:cNvSpPr/>
          <p:nvPr/>
        </p:nvSpPr>
        <p:spPr>
          <a:xfrm>
            <a:off x="640080" y="1965960"/>
            <a:ext cx="2011680" cy="40690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eal 나"/>
          <p:cNvSpPr/>
          <p:nvPr/>
        </p:nvSpPr>
        <p:spPr>
          <a:xfrm>
            <a:off x="868680" y="224028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나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Personal interest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 requirements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348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Learn Hangul, then a textbook or course. TOPIK is optional.</a:t>
            </a:r>
            <a:endParaRPr lang="en-US" sz="1400" dirty="0"/>
          </a:p>
        </p:txBody>
      </p:sp>
      <p:sp>
        <p:nvSpPr>
          <p:cNvPr id="10" name="goal card 2"/>
          <p:cNvSpPr/>
          <p:nvPr/>
        </p:nvSpPr>
        <p:spPr>
          <a:xfrm>
            <a:off x="2857500" y="1965960"/>
            <a:ext cx="2011680" cy="40690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eal 대"/>
          <p:cNvSpPr/>
          <p:nvPr/>
        </p:nvSpPr>
        <p:spPr>
          <a:xfrm>
            <a:off x="3086100" y="224028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8610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대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086100" y="3154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University in Korea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086100" y="3886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TOPIK 3+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86100" y="44348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Typical for Korean-taught degrees; some ask for 4. Each school sets its own rule.</a:t>
            </a:r>
            <a:endParaRPr lang="en-US" sz="1400" dirty="0"/>
          </a:p>
        </p:txBody>
      </p:sp>
      <p:sp>
        <p:nvSpPr>
          <p:cNvPr id="16" name="goal card 3"/>
          <p:cNvSpPr/>
          <p:nvPr/>
        </p:nvSpPr>
        <p:spPr>
          <a:xfrm>
            <a:off x="5074920" y="1965960"/>
            <a:ext cx="2011680" cy="40690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eal 장"/>
          <p:cNvSpPr/>
          <p:nvPr/>
        </p:nvSpPr>
        <p:spPr>
          <a:xfrm>
            <a:off x="5303520" y="224028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장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3154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GKS scholarship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886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Not required to apply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44348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1-year language course included. Must reach TOPIK 3 by its end.</a:t>
            </a:r>
            <a:endParaRPr lang="en-US" sz="1400" dirty="0"/>
          </a:p>
        </p:txBody>
      </p:sp>
      <p:sp>
        <p:nvSpPr>
          <p:cNvPr id="22" name="goal card 4"/>
          <p:cNvSpPr/>
          <p:nvPr/>
        </p:nvSpPr>
        <p:spPr>
          <a:xfrm>
            <a:off x="7292340" y="1965960"/>
            <a:ext cx="2011680" cy="40690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eal 일"/>
          <p:cNvSpPr/>
          <p:nvPr/>
        </p:nvSpPr>
        <p:spPr>
          <a:xfrm>
            <a:off x="7520940" y="224028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2094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일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520940" y="3154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Working in Korea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520940" y="3886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EPS-TOPIK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20940" y="44348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separate test for Employment Permit System jobs.</a:t>
            </a:r>
            <a:endParaRPr lang="en-US" sz="1400" dirty="0"/>
          </a:p>
        </p:txBody>
      </p:sp>
      <p:sp>
        <p:nvSpPr>
          <p:cNvPr id="28" name="goal card 5"/>
          <p:cNvSpPr/>
          <p:nvPr/>
        </p:nvSpPr>
        <p:spPr>
          <a:xfrm>
            <a:off x="9509760" y="1965960"/>
            <a:ext cx="2011680" cy="40690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eal 집"/>
          <p:cNvSpPr/>
          <p:nvPr/>
        </p:nvSpPr>
        <p:spPr>
          <a:xfrm>
            <a:off x="9738360" y="224028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383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집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3154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Long-term residency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738360" y="3886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KIIP or TOPIK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738360" y="44348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integration program teaches language and society.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TOPIK is the official proof of your level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papers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levels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yrs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40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score validity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645920"/>
          <a:ext cx="7589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3108960"/>
                <a:gridCol w="1645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Paper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Levels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Skills tested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Fee in Korea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TOPIK I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1–2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Listening, reading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₩40,000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TOPIK II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3–6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Listening, reading, writing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₩55,000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TOPIK Speaking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1–6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Speaking, scored out of 200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Varies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3931920" y="42062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You choose the paper; your score decides the level. Fees outside Korea are set by local test centers.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2026 test dates</a:t>
            </a:r>
            <a:endParaRPr lang="en-US" sz="3600" dirty="0"/>
          </a:p>
        </p:txBody>
      </p:sp>
      <p:sp>
        <p:nvSpPr>
          <p:cNvPr id="3" name="timeline"/>
          <p:cNvSpPr/>
          <p:nvPr/>
        </p:nvSpPr>
        <p:spPr>
          <a:xfrm>
            <a:off x="914400" y="3017520"/>
            <a:ext cx="10332720" cy="0"/>
          </a:xfrm>
          <a:prstGeom prst="line">
            <a:avLst/>
          </a:prstGeom>
          <a:noFill/>
          <a:ln w="25400">
            <a:solidFill>
              <a:srgbClr val="D9DFE8"/>
            </a:solidFill>
            <a:prstDash val="solid"/>
          </a:ln>
        </p:spPr>
      </p:sp>
      <p:sp>
        <p:nvSpPr>
          <p:cNvPr id="4" name="timeline dot 1"/>
          <p:cNvSpPr/>
          <p:nvPr/>
        </p:nvSpPr>
        <p:spPr>
          <a:xfrm>
            <a:off x="777240" y="285292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17–18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108th TOPIK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Paper test</a:t>
            </a:r>
            <a:endParaRPr lang="en-US" sz="1400" dirty="0"/>
          </a:p>
        </p:txBody>
      </p:sp>
      <p:sp>
        <p:nvSpPr>
          <p:cNvPr id="8" name="timeline dot 2"/>
          <p:cNvSpPr/>
          <p:nvPr/>
        </p:nvSpPr>
        <p:spPr>
          <a:xfrm>
            <a:off x="3520440" y="285292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24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15th IBT + 12th Speaking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Computer tests</a:t>
            </a:r>
            <a:endParaRPr lang="en-US" sz="1400" dirty="0"/>
          </a:p>
        </p:txBody>
      </p:sp>
      <p:sp>
        <p:nvSpPr>
          <p:cNvPr id="12" name="timeline dot 3"/>
          <p:cNvSpPr/>
          <p:nvPr/>
        </p:nvSpPr>
        <p:spPr>
          <a:xfrm>
            <a:off x="6263640" y="285292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15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109th TOPIK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Paper test</a:t>
            </a:r>
            <a:endParaRPr lang="en-US" sz="1400" dirty="0"/>
          </a:p>
        </p:txBody>
      </p:sp>
      <p:sp>
        <p:nvSpPr>
          <p:cNvPr id="16" name="timeline dot 4"/>
          <p:cNvSpPr/>
          <p:nvPr/>
        </p:nvSpPr>
        <p:spPr>
          <a:xfrm>
            <a:off x="9006840" y="285292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0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28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16th TOPIK IBT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Computer test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Korea schedule. Not every session runs in every country; local centers set their own registration windows. Register on topik.go.kr from a computer, not a phone.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GKS: a fully funded path that teaches you Korean</a:t>
            </a:r>
            <a:endParaRPr lang="en-US" sz="3600" dirty="0"/>
          </a:p>
        </p:txBody>
      </p:sp>
      <p:sp>
        <p:nvSpPr>
          <p:cNvPr id="3" name="gks card 1"/>
          <p:cNvSpPr/>
          <p:nvPr/>
        </p:nvSpPr>
        <p:spPr>
          <a:xfrm>
            <a:off x="640080" y="1508760"/>
            <a:ext cx="53492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yr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6517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Korean language course, fully paid, before the degree</a:t>
            </a:r>
            <a:endParaRPr lang="en-US" sz="1600" dirty="0"/>
          </a:p>
        </p:txBody>
      </p:sp>
      <p:sp>
        <p:nvSpPr>
          <p:cNvPr id="6" name="gks card 2"/>
          <p:cNvSpPr/>
          <p:nvPr/>
        </p:nvSpPr>
        <p:spPr>
          <a:xfrm>
            <a:off x="6172200" y="1508760"/>
            <a:ext cx="53492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783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TOPIK 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6517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Minimum level every scholar must reach by the end of that year</a:t>
            </a:r>
            <a:endParaRPr lang="en-US" sz="1600" dirty="0"/>
          </a:p>
        </p:txBody>
      </p:sp>
      <p:sp>
        <p:nvSpPr>
          <p:cNvPr id="9" name="gks card 3"/>
          <p:cNvSpPr/>
          <p:nvPr/>
        </p:nvSpPr>
        <p:spPr>
          <a:xfrm>
            <a:off x="640080" y="3749040"/>
            <a:ext cx="53492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023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TOPIK 5–6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892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Already have it? You skip the language year</a:t>
            </a:r>
            <a:endParaRPr lang="en-US" sz="1600" dirty="0"/>
          </a:p>
        </p:txBody>
      </p:sp>
      <p:sp>
        <p:nvSpPr>
          <p:cNvPr id="12" name="gks card 4"/>
          <p:cNvSpPr/>
          <p:nvPr/>
        </p:nvSpPr>
        <p:spPr>
          <a:xfrm>
            <a:off x="6172200" y="3749040"/>
            <a:ext cx="53492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023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₩100,000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892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Extra monthly grant for scholars holding TOPIK 5 or 6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TOPIK isn't required to apply, but any score strengthens your application. Apply via the Korean embassy or a designated university.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learn</a:t>
            </a:r>
            <a:endParaRPr lang="en-US" sz="3600" dirty="0"/>
          </a:p>
        </p:txBody>
      </p:sp>
      <p:sp>
        <p:nvSpPr>
          <p:cNvPr id="3" name="seal 세"/>
          <p:cNvSpPr/>
          <p:nvPr/>
        </p:nvSpPr>
        <p:spPr>
          <a:xfrm>
            <a:off x="640080" y="150876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세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08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King Sejong Institute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286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Korea's official overseas schools. Low fees, standard textbooks, TOPIK prep.</a:t>
            </a:r>
            <a:endParaRPr lang="en-US" sz="1400" dirty="0"/>
          </a:p>
        </p:txBody>
      </p:sp>
      <p:sp>
        <p:nvSpPr>
          <p:cNvPr id="7" name="seal 온"/>
          <p:cNvSpPr/>
          <p:nvPr/>
        </p:nvSpPr>
        <p:spPr>
          <a:xfrm>
            <a:off x="4343400" y="150876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온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508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Nuri-Sejong online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286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institute's free online platform, for anyone without a branch nearby.</a:t>
            </a:r>
            <a:endParaRPr lang="en-US" sz="1400" dirty="0"/>
          </a:p>
        </p:txBody>
      </p:sp>
      <p:sp>
        <p:nvSpPr>
          <p:cNvPr id="11" name="seal 학"/>
          <p:cNvSpPr/>
          <p:nvPr/>
        </p:nvSpPr>
        <p:spPr>
          <a:xfrm>
            <a:off x="8046720" y="150876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학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1508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University language institutes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286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Full-time in Korea: Yonsei, Korea, Sogang and more. 10-week terms.</a:t>
            </a:r>
            <a:endParaRPr lang="en-US" sz="1400" dirty="0"/>
          </a:p>
        </p:txBody>
      </p:sp>
      <p:sp>
        <p:nvSpPr>
          <p:cNvPr id="15" name="seal 관"/>
          <p:cNvSpPr/>
          <p:nvPr/>
        </p:nvSpPr>
        <p:spPr>
          <a:xfrm>
            <a:off x="640080" y="388620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86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관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Korean Education Centers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634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Linked to Korean embassies. Courses, TOPIK and GKS information.</a:t>
            </a:r>
            <a:endParaRPr lang="en-US" sz="1400" dirty="0"/>
          </a:p>
        </p:txBody>
      </p:sp>
      <p:sp>
        <p:nvSpPr>
          <p:cNvPr id="19" name="seal 강"/>
          <p:cNvSpPr/>
          <p:nvPr/>
        </p:nvSpPr>
        <p:spPr>
          <a:xfrm>
            <a:off x="4343400" y="388620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43400" y="3886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강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Online courses &amp; podcasts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6634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Yonsei's First Step Korean on Coursera, Talk To Me In Korean.</a:t>
            </a:r>
            <a:endParaRPr lang="en-US" sz="1400" dirty="0"/>
          </a:p>
        </p:txBody>
      </p:sp>
      <p:sp>
        <p:nvSpPr>
          <p:cNvPr id="23" name="seal 책"/>
          <p:cNvSpPr/>
          <p:nvPr/>
        </p:nvSpPr>
        <p:spPr>
          <a:xfrm>
            <a:off x="8046720" y="388620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0" y="3886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책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Textbooks &amp; past papers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46634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Sejong, Yonsei and Sogang series. Free past TOPIK papers on topik.go.kr.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Sejong Institutes are close to most learners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273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institutes worldwide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as of June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103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countries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3840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29 new institutes added in 2026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103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239,020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students enrolled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3840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 2025, a record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Find the nearest branch at ksif.or.kr. Source: Ministry of Culture, Sports and Tourism, via The Korea Times.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 roadmap at an hour a day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640080" y="384048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4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Learn Hangul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486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1–2 weeks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2862072" y="3337560"/>
            <a:ext cx="2057400" cy="26060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90672" y="3520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090672" y="42519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Basic grammar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90672" y="4983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3–6 months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5084064" y="2834640"/>
            <a:ext cx="2057400" cy="31089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12664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312664" y="3749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Take TOPIK 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12664" y="4480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≈ 6–12 months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7306056" y="2331720"/>
            <a:ext cx="2057400" cy="3611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34656" y="2514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534656" y="32461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TOPIK II, Level 3–4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534656" y="3977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1.5–2.5 years</a:t>
            </a:r>
            <a:endParaRPr lang="en-US" sz="1400" dirty="0"/>
          </a:p>
        </p:txBody>
      </p:sp>
      <p:sp>
        <p:nvSpPr>
          <p:cNvPr id="19" name="step 5"/>
          <p:cNvSpPr/>
          <p:nvPr/>
        </p:nvSpPr>
        <p:spPr>
          <a:xfrm>
            <a:off x="9528048" y="1828800"/>
            <a:ext cx="2057400" cy="411480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56648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9756648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Level 5–6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756648" y="3474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3+ years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Full-time intensive courses move roughly three times faster.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rules where they're made</a:t>
            </a:r>
            <a:endParaRPr lang="en-US" sz="36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64008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topik.go.kr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937760" y="17373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TOPIK dates, registration, past papers</a:t>
            </a:r>
            <a:endParaRPr lang="en-US" sz="1800" dirty="0"/>
          </a:p>
        </p:txBody>
      </p:sp>
      <p:sp>
        <p:nvSpPr>
          <p:cNvPr id="5" name="Text 3">
            <a:hlinkClick r:id="rId2" tooltip=""/>
          </p:cNvPr>
          <p:cNvSpPr txBox="1"/>
          <p:nvPr/>
        </p:nvSpPr>
        <p:spPr>
          <a:xfrm>
            <a:off x="640080" y="2606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studyinkorea.go.kr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2606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GKS scholarship and university study</a:t>
            </a:r>
            <a:endParaRPr lang="en-US" sz="1800" dirty="0"/>
          </a:p>
        </p:txBody>
      </p:sp>
      <p:sp>
        <p:nvSpPr>
          <p:cNvPr id="7" name="Text 5">
            <a:hlinkClick r:id="rId3" tooltip=""/>
          </p:cNvPr>
          <p:cNvSpPr txBox="1"/>
          <p:nvPr/>
        </p:nvSpPr>
        <p:spPr>
          <a:xfrm>
            <a:off x="640080" y="3474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ksif.or.kr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3474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King Sejong Institutes</a:t>
            </a:r>
            <a:endParaRPr lang="en-US" sz="1800" dirty="0"/>
          </a:p>
        </p:txBody>
      </p:sp>
      <p:sp>
        <p:nvSpPr>
          <p:cNvPr id="9" name="Text 7">
            <a:hlinkClick r:id="rId4" tooltip=""/>
          </p:cNvPr>
          <p:cNvSpPr txBox="1"/>
          <p:nvPr/>
        </p:nvSpPr>
        <p:spPr>
          <a:xfrm>
            <a:off x="64008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eps.go.kr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4343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EPS-TOPIK and work permits</a:t>
            </a:r>
            <a:endParaRPr lang="en-US" sz="1800" dirty="0"/>
          </a:p>
        </p:txBody>
      </p:sp>
      <p:sp>
        <p:nvSpPr>
          <p:cNvPr id="11" name="Text 9">
            <a:hlinkClick r:id="rId5" tooltip=""/>
          </p:cNvPr>
          <p:cNvSpPr txBox="1"/>
          <p:nvPr/>
        </p:nvSpPr>
        <p:spPr>
          <a:xfrm>
            <a:off x="640080" y="5212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chemeClr val="bg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hikorea.go.kr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52120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Visas and the KIIP program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감사합니다 · 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ngul Roadmap">
  <a:themeElements>
    <a:clrScheme name="Hangul Roadmap">
      <a:dk1>
        <a:srgbClr val="1B2230"/>
      </a:dk1>
      <a:lt1>
        <a:srgbClr val="FFFFFF"/>
      </a:lt1>
      <a:dk2>
        <a:srgbClr val="1F4E8C"/>
      </a:dk2>
      <a:lt2>
        <a:srgbClr val="F1F3F6"/>
      </a:lt2>
      <a:accent1>
        <a:srgbClr val="1F4E8C"/>
      </a:accent1>
      <a:accent2>
        <a:srgbClr val="B8322A"/>
      </a:accent2>
      <a:accent3>
        <a:srgbClr val="6E8FBF"/>
      </a:accent3>
      <a:accent4>
        <a:srgbClr val="D9DFE8"/>
      </a:accent4>
      <a:accent5>
        <a:srgbClr val="5C6474"/>
      </a:accent5>
      <a:accent6>
        <a:srgbClr val="E3EAF4"/>
      </a:accent6>
      <a:hlink>
        <a:srgbClr val="8FB3E8"/>
      </a:hlink>
      <a:folHlink>
        <a:srgbClr val="8FB3E8"/>
      </a:folHlink>
    </a:clrScheme>
    <a:fontScheme name="Hangul Roadm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Korean</dc:title>
  <dc:subject>PptxGenJS Presentation</dc:subject>
  <dc:creator>PptxGenJS</dc:creator>
  <cp:lastModifiedBy>PptxGenJS</cp:lastModifiedBy>
  <cp:revision>1</cp:revision>
  <dcterms:created xsi:type="dcterms:W3CDTF">2026-10-05T09:17:50Z</dcterms:created>
  <dcterms:modified xsi:type="dcterms:W3CDTF">2026-10-05T09:17:50Z</dcterms:modified>
</cp:coreProperties>
</file>